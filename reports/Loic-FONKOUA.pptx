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PT Serif Bold"/>
      <p:regular r:id="rId201316"/>
    </p:embeddedFont>
    <p:embeddedFont>
      <p:font typeface="PT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rebroLeague/projet_data_Liora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3/" TargetMode="External"/><Relationship Id="rId1" Type="http://schemas.openxmlformats.org/officeDocument/2006/relationships/image" Target="../media/image-1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rebroLeague/projet_data_Liora" TargetMode="External"/><Relationship Id="rId1" Type="http://schemas.openxmlformats.org/officeDocument/2006/relationships/image" Target="../media/image-15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398984"/>
            <a:ext cx="1648875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32577" y="1448594"/>
            <a:ext cx="206002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 DE FIN D'ÉTUDE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1716484"/>
            <a:ext cx="629686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Quiz 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33360" y="2325291"/>
            <a:ext cx="6296860" cy="651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Génération et scoring d'idées de quiz vidéo virales bilingues (FR/EN)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5233360" y="3265686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233360" y="351204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 de fin d'étude —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LIORA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3962698"/>
            <a:ext cx="690644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source :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u="sng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github.com/CerebroLeague/projet_data_Liora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3360" y="4401741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4710113"/>
            <a:ext cx="6296860" cy="7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020202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Loic FONKOUA</a:t>
            </a:r>
            <a:endParaRPr lang="en-US" sz="4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5007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 problème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2167235"/>
            <a:ext cx="3512653" cy="3205758"/>
          </a:xfrm>
          <a:prstGeom prst="roundRect">
            <a:avLst>
              <a:gd name="adj" fmla="val 77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26769" y="2332534"/>
            <a:ext cx="3182064" cy="149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383838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~1 vidéo/jour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826769" y="3929559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automatisée en FR et EN, mais l'idéation reste manuelle.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167235"/>
            <a:ext cx="3512752" cy="3205758"/>
          </a:xfrm>
          <a:prstGeom prst="roundRect">
            <a:avLst>
              <a:gd name="adj" fmla="val 77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504716" y="2332534"/>
            <a:ext cx="3182163" cy="22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383838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1,5 à 2 vidéos/jour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4504716" y="4678462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concurrents publient plus vite : l'idéation devient le vrai goulot.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167235"/>
            <a:ext cx="3512653" cy="3205758"/>
          </a:xfrm>
          <a:prstGeom prst="roundRect">
            <a:avLst>
              <a:gd name="adj" fmla="val 77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182762" y="2332534"/>
            <a:ext cx="3182064" cy="27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 question clé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2762" y="2709466"/>
            <a:ext cx="3182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Peut-on générer automatiquement des idées virales, nichées et bilingues, et prédire lesquelles marcheront avant de produire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4944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Objectifs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2219821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717284" y="2243088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198830" y="2276673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Collecter et structurer un corpus de vidéos concurrentes.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1475" y="292258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17284" y="2945854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198830" y="2979440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Définir une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variable cible de viralité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comparable entre niches.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1475" y="3625354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17284" y="3648621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98830" y="3682206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Prédire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la viralité à partir de signaux connus avant publication.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1475" y="432812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284" y="4351387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198830" y="4384973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T Serif Bold" pitchFamily="34" charset="0"/>
                <a:ea typeface="PT Serif Bold" pitchFamily="34" charset="-122"/>
                <a:cs typeface="PT Serif Bold" pitchFamily="34" charset="-120"/>
              </a:rPr>
              <a:t>Générer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des idées ancrées sur les données et les classer par potentiel.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1475" y="503088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284" y="5054154"/>
            <a:ext cx="2604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198830" y="5087739"/>
            <a:ext cx="1033139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Exposer le tout via une API et une démonstration.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5184"/>
            <a:ext cx="10868745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Les données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199922" y="2464296"/>
            <a:ext cx="2000101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476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661475" y="2925167"/>
            <a:ext cx="3077093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Vidéos collectées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99922" y="3294856"/>
            <a:ext cx="2000101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661475" y="3755727"/>
            <a:ext cx="3077093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Niches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9922" y="4125416"/>
            <a:ext cx="2000101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661475" y="4586288"/>
            <a:ext cx="3077093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Langues (FR/EN)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7047" y="2410619"/>
            <a:ext cx="4894041" cy="24235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2363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Exploration — 3 constats validés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87241"/>
            <a:ext cx="3512653" cy="1804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871589"/>
            <a:ext cx="306776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Chaque niche a sa dynamique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22017" y="3242171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Vues/jour significativement différentes selon la niche (Kruskal-Wallis, p ≈ 3,7 × 10⁻¹⁵) → score normalisé par niche.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687241"/>
            <a:ext cx="3512752" cy="1804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871589"/>
            <a:ext cx="306786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L'anglais surperforme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599964" y="3242171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Médiane 815 vs 283 vues/jour en FR (Mann-Whitney, p ≈ 1,8 × 10⁻⁸) → langue = levier fort.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687241"/>
            <a:ext cx="3512653" cy="1804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871589"/>
            <a:ext cx="3067767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Les vidéos longues marchent mieux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278010" y="3513534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Corrélation de Spearman ρ = 0,336 (p ≈ 4,6 × 10⁻¹⁴) — à nuancer (confondant possible).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61475" y="4677767"/>
            <a:ext cx="2426235" cy="257770"/>
          </a:xfrm>
          <a:prstGeom prst="roundRect">
            <a:avLst>
              <a:gd name="adj" fmla="val 7699"/>
            </a:avLst>
          </a:prstGeom>
          <a:solidFill>
            <a:srgbClr val="FFDECC"/>
          </a:solidFill>
          <a:ln/>
        </p:spPr>
      </p:sp>
      <p:sp>
        <p:nvSpPr>
          <p:cNvPr id="13" name="Text 8"/>
          <p:cNvSpPr/>
          <p:nvPr/>
        </p:nvSpPr>
        <p:spPr>
          <a:xfrm>
            <a:off x="760691" y="4727377"/>
            <a:ext cx="2837387" cy="158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📊</a:t>
            </a:r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ANALYSE EXPLORATOIRE VALIDÉE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0" y="793948"/>
            <a:ext cx="4414826" cy="5270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1392"/>
            <a:ext cx="6296860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 cible &amp; preprocessing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5468999" y="1454745"/>
            <a:ext cx="6061122" cy="157063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390420" y="1918196"/>
            <a:ext cx="598274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Score de viralité relatif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0420" y="2265462"/>
            <a:ext cx="598274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Vues/jour → log → z-score par (catégorie × langue). Comparable entre niches.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04638" y="2973983"/>
            <a:ext cx="5825483" cy="157063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5626058" y="3437434"/>
            <a:ext cx="574710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Features pré-publication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26058" y="3784699"/>
            <a:ext cx="574710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Titre, durée, format, moment de publication, axes thématiques. Signaux connus avant de produire.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0276" y="4738390"/>
            <a:ext cx="5589845" cy="157063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5861697" y="5201841"/>
            <a:ext cx="551146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Anti-fuite de données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61697" y="5549106"/>
            <a:ext cx="55114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Vues, likes et commentaires exclus des features. Garde-fou automatique intégré au pipeline.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360" y="1297682"/>
            <a:ext cx="471277" cy="471289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130" y="1415554"/>
            <a:ext cx="235639" cy="23564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68999" y="2816920"/>
            <a:ext cx="471277" cy="471289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6769" y="2934791"/>
            <a:ext cx="235639" cy="23564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704638" y="4581327"/>
            <a:ext cx="471277" cy="471289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2407" y="4699198"/>
            <a:ext cx="235639" cy="235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77813"/>
            <a:ext cx="3460763" cy="251420"/>
          </a:xfrm>
          <a:prstGeom prst="roundRect">
            <a:avLst>
              <a:gd name="adj" fmla="val 7894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127423"/>
            <a:ext cx="387191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MÉTRIQUE PRINCIPALE : CORRÉLATION DE SPEARMAN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395313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Modèle 1 — Scoring viral (régression)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77541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Modèle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Spearman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Baseline (moyenne)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0,00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Régression linéaire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0,36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LightGBM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0,48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4280991"/>
            <a:ext cx="3084038" cy="206673"/>
          </a:xfrm>
          <a:prstGeom prst="roundRect">
            <a:avLst>
              <a:gd name="adj" fmla="val 12004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3869534" y="4280892"/>
            <a:ext cx="277012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4694337"/>
            <a:ext cx="348507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Baseline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064919"/>
            <a:ext cx="34850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Moyenne — point de départ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3213" y="4280991"/>
            <a:ext cx="2974008" cy="206673"/>
          </a:xfrm>
          <a:prstGeom prst="roundRect">
            <a:avLst>
              <a:gd name="adj" fmla="val 12004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353213" y="4280991"/>
            <a:ext cx="1070643" cy="206673"/>
          </a:xfrm>
          <a:prstGeom prst="roundRect">
            <a:avLst>
              <a:gd name="adj" fmla="val 12004"/>
            </a:avLst>
          </a:prstGeom>
          <a:solidFill>
            <a:srgbClr val="E04F00"/>
          </a:solidFill>
          <a:ln/>
        </p:spPr>
      </p:sp>
      <p:sp>
        <p:nvSpPr>
          <p:cNvPr id="12" name="Text 9"/>
          <p:cNvSpPr/>
          <p:nvPr/>
        </p:nvSpPr>
        <p:spPr>
          <a:xfrm>
            <a:off x="7451241" y="4280892"/>
            <a:ext cx="387142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53213" y="4694337"/>
            <a:ext cx="348517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Régression linéaire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53213" y="5064919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Amélioration significative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5050" y="4280991"/>
            <a:ext cx="2974008" cy="206673"/>
          </a:xfrm>
          <a:prstGeom prst="roundRect">
            <a:avLst>
              <a:gd name="adj" fmla="val 12004"/>
            </a:avLst>
          </a:prstGeom>
          <a:solidFill>
            <a:srgbClr val="F2EEEE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5050" y="4280991"/>
            <a:ext cx="1427524" cy="206673"/>
          </a:xfrm>
          <a:prstGeom prst="roundRect">
            <a:avLst>
              <a:gd name="adj" fmla="val 12004"/>
            </a:avLst>
          </a:prstGeom>
          <a:solidFill>
            <a:srgbClr val="E04F00"/>
          </a:solidFill>
          <a:ln/>
        </p:spPr>
      </p:sp>
      <p:sp>
        <p:nvSpPr>
          <p:cNvPr id="17" name="Text 14"/>
          <p:cNvSpPr/>
          <p:nvPr/>
        </p:nvSpPr>
        <p:spPr>
          <a:xfrm>
            <a:off x="11143078" y="4280892"/>
            <a:ext cx="387142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48%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5050" y="4694337"/>
            <a:ext cx="348517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LightGBM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045050" y="5064919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Meilleur modèle actuel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1475" y="55155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LightGBM bat nettement les baselines. Objectif H2 (&gt; 0,5) proche, pas encore atteint.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445"/>
            <a:ext cx="10868745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Interprétation (SHAP)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1184573"/>
            <a:ext cx="3613357" cy="74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829" y="1203623"/>
            <a:ext cx="342395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Durée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31829" y="1526381"/>
            <a:ext cx="34239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Domine la prédiction, loin devant tous les autres signaux.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2099965"/>
            <a:ext cx="3613357" cy="7418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1829" y="2119015"/>
            <a:ext cx="342395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Signaux de titre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31829" y="2441773"/>
            <a:ext cx="34239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Ponctuation, longueur, majuscules : des leviers actionnables avant publication.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25" y="3015357"/>
            <a:ext cx="3613357" cy="7418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1829" y="3034407"/>
            <a:ext cx="3423953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Heure de publication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31829" y="3357166"/>
            <a:ext cx="34239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facteur. Lecture critique : la durée reflète peut-être le type de chaîne plus qu'un vrai levier.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784" y="1203623"/>
            <a:ext cx="5178494" cy="4956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Modèle 2 — Classifieur de famille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661475" y="952599"/>
            <a:ext cx="2549858" cy="163413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5965" y="984845"/>
            <a:ext cx="3030462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40 % DES VIDÉOS SANS FAMILLE → PRÉDICTION PAR LE TITRE</a:t>
            </a:r>
            <a:endParaRPr lang="en-US" sz="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73175"/>
          <a:ext cx="9143771" cy="914400"/>
        </p:xfrm>
        <a:graphic>
          <a:graphicData uri="http://schemas.openxmlformats.org/drawingml/2006/table">
            <a:tbl>
              <a:tblPr/>
              <a:tblGrid>
                <a:gridCol w="1396734"/>
                <a:gridCol w="1396734"/>
                <a:gridCol w="1396734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Modèle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Accuracy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Macro-F1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Baseline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0,84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0,30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LightGBM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0,90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0,76</a:t>
                      </a: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2092127"/>
            <a:ext cx="4799785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L'accuracy trompe (déséquilibre) → macro-F1 est la vraie métrique.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095348" y="2982813"/>
            <a:ext cx="132225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0,76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294" y="2311003"/>
            <a:ext cx="1612562" cy="16126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4020245"/>
            <a:ext cx="4190201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Macro-F1 LightGBM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095348" y="5034855"/>
            <a:ext cx="132225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191</a:t>
            </a:r>
            <a:endParaRPr lang="en-US" sz="2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294" y="4363045"/>
            <a:ext cx="1612562" cy="16126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6072287"/>
            <a:ext cx="4190201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Familles comblées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155" y="1273175"/>
            <a:ext cx="4170556" cy="3658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5234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 produit — Génération par RAG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40112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3466902"/>
            <a:ext cx="329229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Récupération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6769" y="3837484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récupère les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titres qui marchent + tendances + mots-clés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la niche.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640112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3466902"/>
            <a:ext cx="329229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Génération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449651" y="3837484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les donne en contexte à un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modèle de langage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(RAG, sans réentraînement).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640112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3466902"/>
            <a:ext cx="329229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Scoring &amp; classement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072533" y="3837484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idée générée est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notée par le modèle de scoring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puis classée.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471805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contexte récupéré → LLM → idées → scoring → classement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70658"/>
            <a:ext cx="6296860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245288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Streamlit — le menu du matin, en direct.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903538"/>
            <a:ext cx="3065783" cy="965795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6769" y="3068836"/>
            <a:ext cx="273519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Suggestions du jour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6769" y="3439418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FR + 5 EN classées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903538"/>
            <a:ext cx="3065783" cy="965795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4057846" y="3068836"/>
            <a:ext cx="273519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Génération à la demande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475" y="4034631"/>
            <a:ext cx="6296860" cy="601960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26769" y="4199930"/>
            <a:ext cx="596627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Explication du score (SHAP) et DataViz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1475" y="4822627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👉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Accéder à la démo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9011"/>
            <a:ext cx="10868745" cy="3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Industrialisation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54321" y="1250652"/>
            <a:ext cx="2097531" cy="4948337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46" y="1401366"/>
            <a:ext cx="372061" cy="372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2585" y="1401366"/>
            <a:ext cx="1260443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(FastAPI)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42585" y="1779488"/>
            <a:ext cx="126044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 d'intégration dans l'application de production.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46" y="2952254"/>
            <a:ext cx="372061" cy="3720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2585" y="2952254"/>
            <a:ext cx="1260443" cy="732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Tâche quotidienne (cron)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42585" y="3818731"/>
            <a:ext cx="126044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menu se régénère chaque matin, tout seul.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46" y="4765278"/>
            <a:ext cx="372061" cy="3720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2585" y="4765278"/>
            <a:ext cx="1260443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42585" y="5143401"/>
            <a:ext cx="126044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+ GitHub Actions. Tout en CPU, infra gratuite.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2807027" y="1250652"/>
            <a:ext cx="8836598" cy="4948337"/>
          </a:xfrm>
          <a:prstGeom prst="roundRect">
            <a:avLst>
              <a:gd name="adj" fmla="val 451"/>
            </a:avLst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5851" y="1401366"/>
            <a:ext cx="6653443" cy="3049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1564"/>
            <a:ext cx="2501937" cy="251420"/>
          </a:xfrm>
          <a:prstGeom prst="roundRect">
            <a:avLst>
              <a:gd name="adj" fmla="val 7894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51173"/>
            <a:ext cx="291308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SYSTÈME COMPLET ET FONCTIONNEL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19064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1475" y="2401292"/>
            <a:ext cx="5351725" cy="965795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26769" y="2566591"/>
            <a:ext cx="50211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 modèles supervisés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6769" y="293717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Régression (scoring viral) + Classification (famille de quiz)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401292"/>
            <a:ext cx="5351725" cy="965795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43789" y="2566591"/>
            <a:ext cx="50211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Pipeline end-to-end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3789" y="293717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Collecte → Modèles → Génération RAG → API → Démo Streamlit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553123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Hypothèse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Verdict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H2 — Spearman &gt; 0,5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Proche (0,48), baselines battues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RAG &gt; zero-shot / qualité ∝ retrieval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Pipeline validé, éval à approfondir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61475" y="51918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 honnête : approche pertinente, performance à consolider.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33067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Limites &amp; perspectives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3315295"/>
            <a:ext cx="10868745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Corpus modeste (476), biais de langue, familles bruitées.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viralité est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prédite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pas encore prouvée sur des idées publiées.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Pistes : plus de données, features tendances/mots-clés, embeddings de titres, ensembling.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52724"/>
            <a:ext cx="6296860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Merci !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2634952"/>
            <a:ext cx="6296860" cy="1085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Questions ?</a:t>
            </a:r>
            <a:endParaRPr lang="en-US" sz="6800" dirty="0"/>
          </a:p>
        </p:txBody>
      </p:sp>
      <p:sp>
        <p:nvSpPr>
          <p:cNvPr id="5" name="Shape 2"/>
          <p:cNvSpPr/>
          <p:nvPr/>
        </p:nvSpPr>
        <p:spPr>
          <a:xfrm>
            <a:off x="5233360" y="400972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28568" y="4256088"/>
            <a:ext cx="690644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source : </a:t>
            </a:r>
            <a:pPr algn="ctr" indent="0" marL="0">
              <a:lnSpc>
                <a:spcPct val="133000"/>
              </a:lnSpc>
              <a:buNone/>
            </a:pPr>
            <a:r>
              <a:rPr lang="en-US" sz="1000" b="1" u="sng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github.com/CerebroLeague/projet_data_Liora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233360" y="4653855"/>
            <a:ext cx="3172837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2577" y="4703465"/>
            <a:ext cx="358398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LOIC FONKOUA — PROJET DE FIN D'ÉTUDE LIORA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04F0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2026-09-11T06:20:44Z</dcterms:created>
  <dcterms:modified xsi:type="dcterms:W3CDTF">2026-09-11T06:20:44Z</dcterms:modified>
</cp:coreProperties>
</file>